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截至 2026-10-15。實際值、前值：https://www.bls.gov/news.release/cpi.nr0.htm</a:t>
            </a:r>
          </a:p>
          <a:p>
            <a:r>
              <a:t>整體預期：https://www.investing.com/news/economic-indicators/hot-september-cpi-sends-ratehike-bets-soaring-4949438</a:t>
            </a:r>
          </a:p>
          <a:p>
            <a:r>
              <a:t>核心月增預期：https://www.marketscreener.com/news/us-consumer-prices-accelerate-in-september-on-costlier-gasoline-core-cpi-firmer-ce785dd2df88f027</a:t>
            </a:r>
          </a:p>
          <a:p>
            <a:r>
              <a:t>核心年增預期 2.5% 僅由課堂資料及 ETF.net 轉述 CNBC 交叉比對，未能直接讀取 CNBC，證據層級低於其餘三項：https://etf.net/news/september-cpi-is-the-last-inflation-reading-before-the-fed-meets-2026-10-14</a:t>
            </a:r>
          </a:p>
          <a:p>
            <a:r>
              <a:t>ETF.net 同時列 FactSet 整體月增 0.5%、核心年增 2.4%；因此不宣稱市場存在唯一共識。差異以公布四捨五入值相減，單位 pp（百分點）。</a:t>
            </a:r>
          </a:p>
          <a:p>
            <a:r>
              <a:t>年增與月增使用不同季調口徑；整體月增符合預期、年增高於預期並不矛盾。市場解讀是條件推論，不是投資報酬保證。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八大支出類別沿用課堂 cpi-relative-importance.md Table 1 CPI-U，與 BLS 網頁逐項核對：https://www.bls.gov/cpi/tables/relative-importance/2025.htm</a:t>
            </a:r>
          </a:p>
          <a:p>
            <a:r>
              <a:t>此圖是依 BLS 表格重新繪製，非 BLS 原圖。住宅 Housing 不等於 Shelter；OER 是 Shelter 子項。能源含在住宅與交通等類別之內，不能再加到八大類上。</a:t>
            </a:r>
          </a:p>
          <a:p>
            <a:r>
              <a:t>2026 權重更新確認：https://www.bls.gov/cpi/tables/relative-importance/weight-update-comparison-2026.htm</a:t>
            </a:r>
          </a:p>
          <a:p>
            <a:r>
              <a:t>月增細項與汽油貢獻敘述：https://www.bls.gov/news.release/cpi.nr0.htm</a:t>
            </a:r>
          </a:p>
          <a:p>
            <a:r>
              <a:t>原因的交叉查核：https://www.marketscreener.com/news/us-consumer-prices-accelerate-in-september-on-costlier-gasoline-core-cpi-firmer-ce785dd2df88f027</a:t>
            </a:r>
          </a:p>
          <a:p>
            <a:r>
              <a:t>只能確認實現值來源，無法識別每個項目對 0.1 pp 預測誤差的精確貢獻；不把廣泛價格上漲解讀成已經證明的因果效果。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下月指 2026 年 10 月觀察值，預定 11 月 10 日發布。日期來源：https://www.bls.gov/news.release/cpi.nr0.htm</a:t>
            </a:r>
          </a:p>
          <a:p>
            <a:r>
              <a:t>三情境均為作者依價格傳導與 CPI 結構作出的條件推論，未估計機率與點預測。油價下跌不保證核心同步回落；油價持平代表能源價格月增接近零，不代表總體價格下降。原油、零售汽油與 BLS 季調汽油指數的口徑不同，不可直接互換。</a:t>
            </a:r>
          </a:p>
          <a:p>
            <a:r>
              <a:t>CPI 計算與季調：https://www.bls.gov/opub/hom/cpi/calculation.htm</a:t>
            </a:r>
          </a:p>
          <a:p>
            <a:r>
              <a:t>對市場：核心若延續偏強，利率與估值壓力可能持續；若僅能源反轉，未必足以證明全面降溫。聯準會通膨目標對應 PCE，非 CPI。</a:t>
            </a:r>
          </a:p>
          <a:p>
            <a:r>
              <a:t>課堂 OCR 提到的下月年增 3.6%–3.8% 與固定 1–2 月傳導時滯缺少可重現依據，故不沿用。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tf.net/news/september-cpi-is-the-last-inflation-reading-before-the-fed-meets-2026-10-14" TargetMode="External"/><Relationship Id="rId3" Type="http://schemas.openxmlformats.org/officeDocument/2006/relationships/hyperlink" Target="https://www.bls.gov/news.release/cpi.nr0.htm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ls.gov/cpi/tables/relative-importance/2025.htm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ls.gov/news.release/cpi.nr0.htm" TargetMode="Externa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381000"/>
            <a:ext cx="355600" cy="38100"/>
          </a:xfrm>
          <a:prstGeom prst="rect">
            <a:avLst/>
          </a:prstGeom>
          <a:solidFill>
            <a:srgbClr val="53D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279400"/>
            <a:ext cx="711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9AAFC8"/>
                </a:solidFill>
                <a:latin typeface="Microsoft JhengHei"/>
              </a:defRPr>
            </a:pPr>
            <a:r>
              <a:t>MACRO RESEARCH  /  US CPI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4500" y="2794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AAFC8"/>
                </a:solidFill>
                <a:latin typeface="Microsoft JhengHei"/>
              </a:defRPr>
            </a:pPr>
            <a:r>
              <a:t>2026.09  |  發布 10.14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787400"/>
            <a:ext cx="11379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F0F4FA"/>
                </a:solidFill>
                <a:latin typeface="Microsoft JhengHei"/>
              </a:defRPr>
            </a:pPr>
            <a:r>
              <a:t>核心未如預期降溫，才是本次意外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14351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與市場預期的落差  /  CPI-U、全美城市平均；月增率為季調，年增率為未季調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4400" y="6477000"/>
            <a:ext cx="825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AAFC8"/>
                </a:solidFill>
                <a:latin typeface="Microsoft JhengHei"/>
              </a:defRPr>
            </a:pPr>
            <a:r>
              <a:t>01 / 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2057400"/>
            <a:ext cx="7467600" cy="3429000"/>
          </a:xfrm>
          <a:prstGeom prst="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78800" y="2057400"/>
            <a:ext cx="3606800" cy="3429000"/>
          </a:xfrm>
          <a:prstGeom prst="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286000"/>
            <a:ext cx="2260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9600" y="2286000"/>
            <a:ext cx="965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前值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0" y="2286000"/>
            <a:ext cx="965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預期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286000"/>
            <a:ext cx="965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公布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4800" y="2286000"/>
            <a:ext cx="1016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差異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7940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0F4FA"/>
                </a:solidFill>
                <a:latin typeface="Microsoft JhengHei"/>
              </a:defRPr>
            </a:pPr>
            <a:r>
              <a:t>整體 CPI｜月增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9600" y="27940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0.4%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27940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0.6%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7940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0F4FA"/>
                </a:solidFill>
                <a:latin typeface="Microsoft JhengHei"/>
              </a:defRPr>
            </a:pPr>
            <a:r>
              <a:t>0.6%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4800" y="2794000"/>
            <a:ext cx="1117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持平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3909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0F4FA"/>
                </a:solidFill>
                <a:latin typeface="Microsoft JhengHei"/>
              </a:defRPr>
            </a:pPr>
            <a:r>
              <a:t>整體 CPI｜年增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9600" y="33909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3.4%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000" y="33909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3909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0F4FA"/>
                </a:solidFill>
                <a:latin typeface="Microsoft JhengHei"/>
              </a:defRPr>
            </a:pPr>
            <a:r>
              <a:t>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4800" y="3390900"/>
            <a:ext cx="1117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F927E"/>
                </a:solidFill>
                <a:latin typeface="Microsoft JhengHei"/>
              </a:defRPr>
            </a:pPr>
            <a:r>
              <a:t>+0.1 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3924300"/>
            <a:ext cx="7213600" cy="508000"/>
          </a:xfrm>
          <a:prstGeom prst="rect">
            <a:avLst/>
          </a:prstGeom>
          <a:solidFill>
            <a:srgbClr val="2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39878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0F4FA"/>
                </a:solidFill>
                <a:latin typeface="Microsoft JhengHei"/>
              </a:defRPr>
            </a:pPr>
            <a:r>
              <a:t>核心 CPI｜月增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9600" y="39878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0.3%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8000" y="39878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0.2%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9878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0F4FA"/>
                </a:solidFill>
                <a:latin typeface="Microsoft JhengHei"/>
              </a:defRPr>
            </a:pPr>
            <a:r>
              <a:t>0.3%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4800" y="3987800"/>
            <a:ext cx="1117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F927E"/>
                </a:solidFill>
                <a:latin typeface="Microsoft JhengHei"/>
              </a:defRPr>
            </a:pPr>
            <a:r>
              <a:t>+0.1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45847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0F4FA"/>
                </a:solidFill>
                <a:latin typeface="Microsoft JhengHei"/>
              </a:defRPr>
            </a:pPr>
            <a:r>
              <a:t>核心 CPI｜年增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9600" y="45847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2.4%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8000" y="45847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0F4FA"/>
                </a:solidFill>
                <a:latin typeface="Microsoft JhengHei"/>
              </a:defRPr>
            </a:pPr>
            <a:r>
              <a:t>2.5%*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584700"/>
            <a:ext cx="965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0F4FA"/>
                </a:solidFill>
                <a:latin typeface="Microsoft JhengHei"/>
              </a:defRPr>
            </a:pPr>
            <a:r>
              <a:t>2.6%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4800" y="4584700"/>
            <a:ext cx="1117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FF927E"/>
                </a:solidFill>
                <a:latin typeface="Microsoft JhengHei"/>
              </a:defRPr>
            </a:pPr>
            <a:r>
              <a:t>+0.1 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5500" y="2489200"/>
            <a:ext cx="31115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6200" b="1">
                <a:solidFill>
                  <a:srgbClr val="FF927E"/>
                </a:solidFill>
                <a:latin typeface="Microsoft JhengHei"/>
              </a:defRPr>
            </a:pPr>
            <a:r>
              <a:t>+0.1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530600"/>
            <a:ext cx="3124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0F4FA"/>
                </a:solidFill>
                <a:latin typeface="Microsoft JhengHei"/>
              </a:defRPr>
            </a:pPr>
            <a:r>
              <a:t>個百分點｜核心月增預期差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127500"/>
            <a:ext cx="3111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AAFC8"/>
                </a:solidFill>
                <a:latin typeface="Microsoft JhengHei"/>
              </a:defRPr>
            </a:pPr>
            <a:r>
              <a:t>預期由 0.3% 放緩至 0.2%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AAFC8"/>
                </a:solidFill>
                <a:latin typeface="Microsoft JhengHei"/>
              </a:defRPr>
            </a:pPr>
            <a:r>
              <a:t>結果連續兩月維持 0.3%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400" y="5727700"/>
            <a:ext cx="11379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53DBC4"/>
                </a:solidFill>
                <a:latin typeface="Microsoft JhengHei"/>
              </a:defRPr>
            </a:pPr>
            <a:r>
              <a:t>市場含義：通膨黏性提高利率維持高檔的壓力；單月 CPI 無法決定升息。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400" y="6172200"/>
            <a:ext cx="10541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AAFC8"/>
                </a:solidFill>
                <a:latin typeface="Microsoft JhengHei"/>
              </a:defRPr>
            </a:pPr>
            <a:r>
              <a:rPr>
                <a:hlinkClick r:id="rId2"/>
              </a:rPr>
              <a:t>資料：BLS；Reuters 調查。*核心年增預期採 ETF.net 轉述 CNBC，非 Reuters；調查口徑可能不同。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400" y="6477000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AAFC8"/>
                </a:solidFill>
                <a:latin typeface="Microsoft JhengHei"/>
              </a:defRPr>
            </a:pPr>
            <a:r>
              <a:rPr>
                <a:hlinkClick r:id="rId3"/>
              </a:rPr>
              <a:t>BLS 最新發布 ↗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381000"/>
            <a:ext cx="355600" cy="38100"/>
          </a:xfrm>
          <a:prstGeom prst="rect">
            <a:avLst/>
          </a:prstGeom>
          <a:solidFill>
            <a:srgbClr val="53D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279400"/>
            <a:ext cx="711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9AAFC8"/>
                </a:solidFill>
                <a:latin typeface="Microsoft JhengHei"/>
              </a:defRPr>
            </a:pPr>
            <a:r>
              <a:t>MACRO RESEARCH  /  US CPI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4500" y="2794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AAFC8"/>
                </a:solidFill>
                <a:latin typeface="Microsoft JhengHei"/>
              </a:defRPr>
            </a:pPr>
            <a:r>
              <a:t>2026.09  |  發布 10.14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787400"/>
            <a:ext cx="11379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F0F4FA"/>
                </a:solidFill>
                <a:latin typeface="Microsoft JhengHei"/>
              </a:defRPr>
            </a:pPr>
            <a:r>
              <a:t>能源推高總體，居住與服務撐住核心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14351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落差的可能來源  /  未取得逐項市場預測，不能把通膨貢獻直接視為預測誤差貢獻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4400" y="6477000"/>
            <a:ext cx="825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AAFC8"/>
                </a:solidFill>
                <a:latin typeface="Microsoft JhengHei"/>
              </a:defRPr>
            </a:pPr>
            <a:r>
              <a:t>02 / 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2032000"/>
            <a:ext cx="5308600" cy="3848100"/>
          </a:xfrm>
          <a:prstGeom prst="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69000" y="2032000"/>
            <a:ext cx="5816600" cy="3848100"/>
          </a:xfrm>
          <a:prstGeom prst="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2225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0F4FA"/>
                </a:solidFill>
                <a:latin typeface="Microsoft JhengHei"/>
              </a:defRPr>
            </a:pPr>
            <a:r>
              <a:t>2026 年起始權重：八大支出類別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692400"/>
            <a:ext cx="1600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AAFC8"/>
                </a:solidFill>
                <a:latin typeface="Microsoft JhengHei"/>
              </a:defRPr>
            </a:pPr>
            <a:r>
              <a:t>住宅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0600" y="2755900"/>
            <a:ext cx="2413000" cy="139700"/>
          </a:xfrm>
          <a:prstGeom prst="rect">
            <a:avLst/>
          </a:prstGeom>
          <a:solidFill>
            <a:srgbClr val="53D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7100" y="2692400"/>
            <a:ext cx="93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0F4FA"/>
                </a:solidFill>
                <a:latin typeface="Microsoft JhengHei"/>
              </a:defRPr>
            </a:pPr>
            <a:r>
              <a:t>44.469%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22600"/>
            <a:ext cx="1600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AAFC8"/>
                </a:solidFill>
                <a:latin typeface="Microsoft JhengHei"/>
              </a:defRPr>
            </a:pPr>
            <a:r>
              <a:t>交通運輸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0600" y="3086100"/>
            <a:ext cx="885347" cy="139700"/>
          </a:xfrm>
          <a:prstGeom prst="rect">
            <a:avLst/>
          </a:prstGeom>
          <a:solidFill>
            <a:srgbClr val="43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7100" y="3022600"/>
            <a:ext cx="93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0F4FA"/>
                </a:solidFill>
                <a:latin typeface="Microsoft JhengHei"/>
              </a:defRPr>
            </a:pPr>
            <a:r>
              <a:t>16.316%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352800"/>
            <a:ext cx="1600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AAFC8"/>
                </a:solidFill>
                <a:latin typeface="Microsoft JhengHei"/>
              </a:defRPr>
            </a:pPr>
            <a:r>
              <a:t>食品與飲料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0600" y="3416300"/>
            <a:ext cx="788922" cy="139700"/>
          </a:xfrm>
          <a:prstGeom prst="rect">
            <a:avLst/>
          </a:prstGeom>
          <a:solidFill>
            <a:srgbClr val="43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7100" y="3352800"/>
            <a:ext cx="93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0F4FA"/>
                </a:solidFill>
                <a:latin typeface="Microsoft JhengHei"/>
              </a:defRPr>
            </a:pPr>
            <a:r>
              <a:t>14.539%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683000"/>
            <a:ext cx="1600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AAFC8"/>
                </a:solidFill>
                <a:latin typeface="Microsoft JhengHei"/>
              </a:defRPr>
            </a:pPr>
            <a:r>
              <a:t>醫療保健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0600" y="3746500"/>
            <a:ext cx="457053" cy="139700"/>
          </a:xfrm>
          <a:prstGeom prst="rect">
            <a:avLst/>
          </a:prstGeom>
          <a:solidFill>
            <a:srgbClr val="43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7100" y="3683000"/>
            <a:ext cx="93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0F4FA"/>
                </a:solidFill>
                <a:latin typeface="Microsoft JhengHei"/>
              </a:defRPr>
            </a:pPr>
            <a:r>
              <a:t>8.423%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013200"/>
            <a:ext cx="1600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AAFC8"/>
                </a:solidFill>
                <a:latin typeface="Microsoft JhengHei"/>
              </a:defRPr>
            </a:pPr>
            <a:r>
              <a:t>教育與通訊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60600" y="4076700"/>
            <a:ext cx="317218" cy="139700"/>
          </a:xfrm>
          <a:prstGeom prst="rect">
            <a:avLst/>
          </a:prstGeom>
          <a:solidFill>
            <a:srgbClr val="43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7100" y="4013200"/>
            <a:ext cx="93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0F4FA"/>
                </a:solidFill>
                <a:latin typeface="Microsoft JhengHei"/>
              </a:defRPr>
            </a:pPr>
            <a:r>
              <a:t>5.846%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343400"/>
            <a:ext cx="1600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AAFC8"/>
                </a:solidFill>
                <a:latin typeface="Microsoft JhengHei"/>
              </a:defRPr>
            </a:pPr>
            <a:r>
              <a:t>娛樂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60600" y="4406900"/>
            <a:ext cx="278746" cy="139700"/>
          </a:xfrm>
          <a:prstGeom prst="rect">
            <a:avLst/>
          </a:prstGeom>
          <a:solidFill>
            <a:srgbClr val="43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7100" y="4343400"/>
            <a:ext cx="93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0F4FA"/>
                </a:solidFill>
                <a:latin typeface="Microsoft JhengHei"/>
              </a:defRPr>
            </a:pPr>
            <a:r>
              <a:t>5.137%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4673600"/>
            <a:ext cx="1600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AAFC8"/>
                </a:solidFill>
                <a:latin typeface="Microsoft JhengHei"/>
              </a:defRPr>
            </a:pPr>
            <a:r>
              <a:t>其他商品與服務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60600" y="4737100"/>
            <a:ext cx="157469" cy="139700"/>
          </a:xfrm>
          <a:prstGeom prst="rect">
            <a:avLst/>
          </a:prstGeom>
          <a:solidFill>
            <a:srgbClr val="43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7100" y="4673600"/>
            <a:ext cx="93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0F4FA"/>
                </a:solidFill>
                <a:latin typeface="Microsoft JhengHei"/>
              </a:defRPr>
            </a:pPr>
            <a:r>
              <a:t>2.902%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5003800"/>
            <a:ext cx="1600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AAFC8"/>
                </a:solidFill>
                <a:latin typeface="Microsoft JhengHei"/>
              </a:defRPr>
            </a:pPr>
            <a:r>
              <a:t>服飾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60600" y="5067300"/>
            <a:ext cx="128493" cy="139700"/>
          </a:xfrm>
          <a:prstGeom prst="rect">
            <a:avLst/>
          </a:prstGeom>
          <a:solidFill>
            <a:srgbClr val="438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7100" y="5003800"/>
            <a:ext cx="939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0F4FA"/>
                </a:solidFill>
                <a:latin typeface="Microsoft JhengHei"/>
              </a:defRPr>
            </a:pPr>
            <a:r>
              <a:t>2.368%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7600" y="2247900"/>
            <a:ext cx="5334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4C478"/>
                </a:solidFill>
                <a:latin typeface="Microsoft JhengHei"/>
              </a:defRPr>
            </a:pPr>
            <a:r>
              <a:t>汽油 +9.1%｜占總體月增逾半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7600" y="26797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AAFC8"/>
                </a:solidFill>
                <a:latin typeface="Microsoft JhengHei"/>
              </a:defRPr>
            </a:pPr>
            <a:r>
              <a:t>解釋總體漲幅；整體月增本來就預期 +0.6%。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7600" y="3200400"/>
            <a:ext cx="5334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53DBC4"/>
                </a:solidFill>
                <a:latin typeface="Microsoft JhengHei"/>
              </a:defRPr>
            </a:pPr>
            <a:r>
              <a:t>居住 +0.4%｜核心壓力較難消退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7600" y="36322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AAFC8"/>
                </a:solidFill>
                <a:latin typeface="Microsoft JhengHei"/>
              </a:defRPr>
            </a:pPr>
            <a:r>
              <a:t>OER +0.3%；外宿 +2.0%；租金 +0.2%。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7600" y="4152900"/>
            <a:ext cx="5334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900" b="1">
                <a:solidFill>
                  <a:srgbClr val="F0F4FA"/>
                </a:solidFill>
                <a:latin typeface="Microsoft JhengHei"/>
              </a:defRPr>
            </a:pPr>
            <a:r>
              <a:t>商品與服務｜核心漲價來源擴散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7600" y="45847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AAFC8"/>
                </a:solidFill>
                <a:latin typeface="Microsoft JhengHei"/>
              </a:defRPr>
            </a:pPr>
            <a:r>
              <a:t>核心商品 +0.3%；中古車 +0.7%；娛樂 +0.5%。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7600" y="5105400"/>
            <a:ext cx="53340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F927E"/>
                </a:solidFill>
                <a:latin typeface="Microsoft JhengHei"/>
              </a:defRPr>
            </a:pPr>
            <a:r>
              <a:t>判讀：居住、服務與商品共同支撐核心；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F927E"/>
                </a:solidFill>
                <a:latin typeface="Microsoft JhengHei"/>
              </a:defRPr>
            </a:pPr>
            <a:r>
              <a:t>哪些項目「超乎預期」仍缺逐項共識驗證。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400" y="6032500"/>
            <a:ext cx="11379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53DBC4"/>
                </a:solidFill>
                <a:latin typeface="Microsoft JhengHei"/>
              </a:defRPr>
            </a:pPr>
            <a:r>
              <a:t>口徑提醒：住宅 44.469% 包含居住服務 35.625%；居住服務又包含 OER 26.204%。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400" y="6477000"/>
            <a:ext cx="1041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AAFC8"/>
                </a:solidFill>
                <a:latin typeface="Microsoft JhengHei"/>
              </a:defRPr>
            </a:pPr>
            <a:r>
              <a:rPr>
                <a:hlinkClick r:id="rId2"/>
              </a:rPr>
              <a:t>權重：2024 支出資料、2025/12 相對重要性；全年非固定占比。八類合計 100.000%。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381000"/>
            <a:ext cx="355600" cy="38100"/>
          </a:xfrm>
          <a:prstGeom prst="rect">
            <a:avLst/>
          </a:prstGeom>
          <a:solidFill>
            <a:srgbClr val="53D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279400"/>
            <a:ext cx="711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9AAFC8"/>
                </a:solidFill>
                <a:latin typeface="Microsoft JhengHei"/>
              </a:defRPr>
            </a:pPr>
            <a:r>
              <a:t>MACRO RESEARCH  /  US CPI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4500" y="2794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AAFC8"/>
                </a:solidFill>
                <a:latin typeface="Microsoft JhengHei"/>
              </a:defRPr>
            </a:pPr>
            <a:r>
              <a:t>2026.09  |  發布 10.14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787400"/>
            <a:ext cx="11379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F0F4FA"/>
                </a:solidFill>
                <a:latin typeface="Microsoft JhengHei"/>
              </a:defRPr>
            </a:pPr>
            <a:r>
              <a:t>10 月總體看油價，核心看居住黏性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1435100"/>
            <a:ext cx="1137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對下個月 CPI 的影響  /  以下是條件情境，並非 BLS 預測或模型點估計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4400" y="6477000"/>
            <a:ext cx="825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AAFC8"/>
                </a:solidFill>
                <a:latin typeface="Microsoft JhengHei"/>
              </a:defRPr>
            </a:pPr>
            <a:r>
              <a:t>03 / 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2082800"/>
            <a:ext cx="3632200" cy="3213100"/>
          </a:xfrm>
          <a:prstGeom prst="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400" y="2082800"/>
            <a:ext cx="3632200" cy="50800"/>
          </a:xfrm>
          <a:prstGeom prst="rect">
            <a:avLst/>
          </a:prstGeom>
          <a:solidFill>
            <a:srgbClr val="53D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495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300" b="1">
                <a:solidFill>
                  <a:srgbClr val="53DBC4"/>
                </a:solidFill>
                <a:latin typeface="Microsoft JhengHei"/>
              </a:defRPr>
            </a:pPr>
            <a:r>
              <a:t>油價轉弱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9591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0F4FA"/>
                </a:solidFill>
                <a:latin typeface="Microsoft JhengHei"/>
              </a:defRPr>
            </a:pPr>
            <a:r>
              <a:t>總體月增可能回落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3556000"/>
            <a:ext cx="3175000" cy="73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AAFC8"/>
                </a:solidFill>
                <a:latin typeface="Microsoft JhengHei"/>
              </a:defRPr>
            </a:pPr>
            <a:r>
              <a:t>汽油漲幅收斂或轉跌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AAFC8"/>
                </a:solidFill>
                <a:latin typeface="Microsoft JhengHei"/>
              </a:defRPr>
            </a:pPr>
            <a:r>
              <a:t>直接能源貢獻減少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5593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0F4FA"/>
                </a:solidFill>
                <a:latin typeface="Microsoft JhengHei"/>
              </a:defRPr>
            </a:pPr>
            <a:r>
              <a:t>核心未必同步下降；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0F4FA"/>
                </a:solidFill>
                <a:latin typeface="Microsoft JhengHei"/>
              </a:defRPr>
            </a:pPr>
            <a:r>
              <a:t>租金與服務需另行觀察。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900" y="2082800"/>
            <a:ext cx="3632200" cy="3213100"/>
          </a:xfrm>
          <a:prstGeom prst="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900" y="2082800"/>
            <a:ext cx="3632200" cy="50800"/>
          </a:xfrm>
          <a:prstGeom prst="rect">
            <a:avLst/>
          </a:prstGeom>
          <a:solidFill>
            <a:srgbClr val="F4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8500" y="23495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300" b="1">
                <a:solidFill>
                  <a:srgbClr val="F4C478"/>
                </a:solidFill>
                <a:latin typeface="Microsoft JhengHei"/>
              </a:defRPr>
            </a:pPr>
            <a:r>
              <a:t>油價持平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500" y="29591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0F4FA"/>
                </a:solidFill>
                <a:latin typeface="Microsoft JhengHei"/>
              </a:defRPr>
            </a:pPr>
            <a:r>
              <a:t>核心成為總體底盤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500" y="3556000"/>
            <a:ext cx="3175000" cy="73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AAFC8"/>
                </a:solidFill>
                <a:latin typeface="Microsoft JhengHei"/>
              </a:defRPr>
            </a:pPr>
            <a:r>
              <a:t>能源不再新增漲幅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AAFC8"/>
                </a:solidFill>
                <a:latin typeface="Microsoft JhengHei"/>
              </a:defRPr>
            </a:pPr>
            <a:r>
              <a:t>居住與服務仍支撐物價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500" y="45593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0F4FA"/>
                </a:solidFill>
                <a:latin typeface="Microsoft JhengHei"/>
              </a:defRPr>
            </a:pPr>
            <a:r>
              <a:t>維持高價不等於持續通膨；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0F4FA"/>
                </a:solidFill>
                <a:latin typeface="Microsoft JhengHei"/>
              </a:defRPr>
            </a:pPr>
            <a:r>
              <a:t>要看價格是否繼續上升。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400" y="2082800"/>
            <a:ext cx="3632200" cy="3213100"/>
          </a:xfrm>
          <a:prstGeom prst="rect">
            <a:avLst/>
          </a:prstGeom>
          <a:solidFill>
            <a:srgbClr val="13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3400" y="2082800"/>
            <a:ext cx="3632200" cy="50800"/>
          </a:xfrm>
          <a:prstGeom prst="rect">
            <a:avLst/>
          </a:prstGeom>
          <a:solidFill>
            <a:srgbClr val="FF9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3495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300" b="1">
                <a:solidFill>
                  <a:srgbClr val="FF927E"/>
                </a:solidFill>
                <a:latin typeface="Microsoft JhengHei"/>
              </a:defRPr>
            </a:pPr>
            <a:r>
              <a:t>油價續漲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29591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0F4FA"/>
                </a:solidFill>
                <a:latin typeface="Microsoft JhengHei"/>
              </a:defRPr>
            </a:pPr>
            <a:r>
              <a:t>總體與傳導風險上升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0" y="3556000"/>
            <a:ext cx="3175000" cy="73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AAFC8"/>
                </a:solidFill>
                <a:latin typeface="Microsoft JhengHei"/>
              </a:defRPr>
            </a:pPr>
            <a:r>
              <a:t>能源直接推升總體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AAFC8"/>
                </a:solidFill>
                <a:latin typeface="Microsoft JhengHei"/>
              </a:defRPr>
            </a:pPr>
            <a:r>
              <a:t>運輸成本可能傳至商品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0" y="45593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0F4FA"/>
                </a:solidFill>
                <a:latin typeface="Microsoft JhengHei"/>
              </a:defRPr>
            </a:pPr>
            <a:r>
              <a:t>傳導幅度與時間未確定；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0F4FA"/>
                </a:solidFill>
                <a:latin typeface="Microsoft JhengHei"/>
              </a:defRPr>
            </a:pPr>
            <a:r>
              <a:t>不能假定下月完整反映。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" y="5626100"/>
            <a:ext cx="1651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53DBC4"/>
                </a:solidFill>
                <a:latin typeface="Microsoft JhengHei"/>
              </a:defRPr>
            </a:pPr>
            <a:r>
              <a:t>監測順序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8200" y="56261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0F4FA"/>
                </a:solidFill>
                <a:latin typeface="Microsoft JhengHei"/>
              </a:defRPr>
            </a:pPr>
            <a:r>
              <a:t>零售汽油與季節因素  →  租金／OER  →  中古車、機票與食品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400" y="6108700"/>
            <a:ext cx="113792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AAFC8"/>
                </a:solidFill>
                <a:latin typeface="Microsoft JhengHei"/>
              </a:defRPr>
            </a:pPr>
            <a:r>
              <a:t>年增率仍受去年同月基期影響，不能由 9 月數字直接推出 10 月年增率。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400" y="6477000"/>
            <a:ext cx="1047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AAFC8"/>
                </a:solidFill>
                <a:latin typeface="Microsoft JhengHei"/>
              </a:defRPr>
            </a:pPr>
            <a:r>
              <a:rPr>
                <a:hlinkClick r:id="rId2"/>
              </a:rPr>
              <a:t>下次發布：2026/11/10 08:30 ET（台北 21:30）｜BLS 最新發布與來源詳見備忘稿 ↗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